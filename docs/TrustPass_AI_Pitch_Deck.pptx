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idea: TrustPass AI makes ecosystem trust visible and reusable through digital passports.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that verification is upstream. Bad verification creates bad matching.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Position the product as infrastructure, not a management tool.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tagline and then go straight into demo or Q&amp;A.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77724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TrustPass AI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13232" y="1508760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FEFFF"/>
                </a:solidFill>
              </a:rPr>
              <a:t>The digital passport for trusted innovation ecosystems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205740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</a:rPr>
              <a:t>From pitch deck to verified passport — AI autofills, verifies, stamps, and recommends ecosystem linkages.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49808" y="2907792"/>
            <a:ext cx="2423160" cy="256032"/>
          </a:xfrm>
          <a:prstGeom prst="roundRect">
            <a:avLst>
              <a:gd name="adj" fmla="val 14286"/>
            </a:avLst>
          </a:prstGeom>
          <a:solidFill>
            <a:srgbClr val="EFF6FF"/>
          </a:solidFill>
          <a:ln w="12700">
            <a:solidFill>
              <a:srgbClr val="EFF6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2104" y="2967228"/>
            <a:ext cx="22585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563EB"/>
                </a:solidFill>
              </a:rPr>
              <a:t>Verify once. Connect everywhere.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6949440" y="914400"/>
            <a:ext cx="3291840" cy="4297680"/>
          </a:xfrm>
          <a:prstGeom prst="roundRect">
            <a:avLst>
              <a:gd name="adj" fmla="val 1667"/>
            </a:avLst>
          </a:prstGeom>
          <a:solidFill>
            <a:srgbClr val="0B2345"/>
          </a:solidFill>
          <a:ln w="12700">
            <a:solidFill>
              <a:srgbClr val="06B6D4">
                <a:alpha val="6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178040" y="117043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FEFFF"/>
                </a:solidFill>
              </a:rPr>
              <a:t>TRUSTPASS AI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178040" y="148132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STARTUP PASSPORT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269480" y="1901952"/>
            <a:ext cx="2651760" cy="0"/>
          </a:xfrm>
          <a:prstGeom prst="line">
            <a:avLst/>
          </a:prstGeom>
          <a:noFill/>
          <a:ln w="12700">
            <a:solidFill>
              <a:srgbClr val="06B6D4">
                <a:alpha val="6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42048" y="2057400"/>
            <a:ext cx="2706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MediNova AI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242048" y="2395728"/>
            <a:ext cx="2706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DEBFF"/>
                </a:solidFill>
              </a:rPr>
              <a:t>Passport ID: TP-ST-2026-001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7452360" y="4709160"/>
            <a:ext cx="2286000" cy="256032"/>
          </a:xfrm>
          <a:prstGeom prst="roundRect">
            <a:avLst>
              <a:gd name="adj" fmla="val 14286"/>
            </a:avLst>
          </a:prstGeom>
          <a:solidFill>
            <a:srgbClr val="FFFBEB"/>
          </a:solidFill>
          <a:ln w="12700">
            <a:solidFill>
              <a:srgbClr val="FFFBEB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34656" y="4768596"/>
            <a:ext cx="21214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9E0B"/>
                </a:solidFill>
              </a:rPr>
              <a:t>Passport Issued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7360920" y="3703320"/>
            <a:ext cx="1234440" cy="438912"/>
          </a:xfrm>
          <a:prstGeom prst="roundRect">
            <a:avLst>
              <a:gd name="adj" fmla="val 6250"/>
            </a:avLst>
          </a:prstGeom>
          <a:solidFill>
            <a:srgbClr val="FFFFFF">
              <a:alpha val="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06640" y="3822192"/>
            <a:ext cx="1143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22C55E"/>
                </a:solidFill>
              </a:rPr>
              <a:t>IDENTITY VERIFIED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8823960" y="4251960"/>
            <a:ext cx="1280160" cy="438912"/>
          </a:xfrm>
          <a:prstGeom prst="roundRect">
            <a:avLst>
              <a:gd name="adj" fmla="val 6250"/>
            </a:avLst>
          </a:prstGeom>
          <a:solidFill>
            <a:srgbClr val="FFFFFF">
              <a:alpha val="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69680" y="4370832"/>
            <a:ext cx="11887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6B6D4"/>
                </a:solidFill>
              </a:rPr>
              <a:t>PROGRAMME ELIGIBLE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749808" y="617220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Build with AI MyHack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pain: verification is the first bottleneck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30352" y="85039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Before any matching or linkage can happen, admins must manually decide who is real, eligible and ready.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0241280" y="39319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4748B"/>
                </a:solidFill>
              </a:rPr>
              <a:t>TrustPass AI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1475720" y="641908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02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685800" y="1417320"/>
            <a:ext cx="192024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9E2EF">
                <a:alpha val="9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F172A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158191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2563EB"/>
                </a:solidFill>
              </a:rPr>
              <a:t>8–12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822960" y="201168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Manual checks per application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788920" y="1417320"/>
            <a:ext cx="205740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9E2EF">
                <a:alpha val="9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F172A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926080" y="1581912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59E0B"/>
                </a:solidFill>
              </a:rPr>
              <a:t>Every programme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2926080" y="2011680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Repeated data entry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074920" y="1417320"/>
            <a:ext cx="205740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9E2EF">
                <a:alpha val="9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F172A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212080" y="1581912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EF4444"/>
                </a:solidFill>
              </a:rPr>
              <a:t>Almost none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5212080" y="2011680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Trust history reused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7360920" y="1417320"/>
            <a:ext cx="224028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9E2EF">
                <a:alpha val="9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F172A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498080" y="1581912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475569"/>
                </a:solidFill>
              </a:rPr>
              <a:t>Admin memory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7498080" y="2011680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Linkage quality depends on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85800" y="2788920"/>
            <a:ext cx="10789920" cy="251460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9E2EF">
                <a:alpha val="9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F172A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60120" y="303580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Current manual flow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005840" y="3858768"/>
            <a:ext cx="274320" cy="2743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5840" y="3927348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1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685800" y="4370832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0F172A"/>
                </a:solidFill>
              </a:rPr>
              <a:t>Startup applies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1435608" y="4050792"/>
            <a:ext cx="1417320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2926080" y="3858768"/>
            <a:ext cx="274320" cy="2743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926080" y="3927348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2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2606040" y="4370832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0F172A"/>
                </a:solidFill>
              </a:rPr>
              <a:t>Admin reads docs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355848" y="4050792"/>
            <a:ext cx="1463040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4892040" y="3858768"/>
            <a:ext cx="274320" cy="2743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92040" y="3927348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3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4572000" y="4370832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0F172A"/>
                </a:solidFill>
              </a:rPr>
              <a:t>Admin verifies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321808" y="4050792"/>
            <a:ext cx="1508760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6903720" y="3858768"/>
            <a:ext cx="274320" cy="2743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03720" y="3927348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4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6583680" y="4370832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0F172A"/>
                </a:solidFill>
              </a:rPr>
              <a:t>Admin matches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7333488" y="4050792"/>
            <a:ext cx="1417320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  <a:headEnd type="none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8823960" y="3858768"/>
            <a:ext cx="274320" cy="274320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823960" y="3927348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5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8503920" y="4370832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0F172A"/>
                </a:solidFill>
              </a:rPr>
              <a:t>Outcome tracked poorly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960120" y="54406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</a:rPr>
              <a:t>Result: slow onboarding, inconsistent decisions, weak linkages and lost ecosystem intelligence.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486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Our insight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1143000"/>
            <a:ext cx="5577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DFF7FF"/>
                </a:solidFill>
              </a:rPr>
              <a:t>Ecosystems do not need another database. They need portable trust.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685800" y="2148840"/>
            <a:ext cx="3246120" cy="2103120"/>
          </a:xfrm>
          <a:prstGeom prst="roundRect">
            <a:avLst>
              <a:gd name="adj" fmla="val 2174"/>
            </a:avLst>
          </a:prstGeom>
          <a:solidFill>
            <a:srgbClr val="0B2345"/>
          </a:solidFill>
          <a:ln w="12700">
            <a:solidFill>
              <a:srgbClr val="0B2345">
                <a:alpha val="9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F172A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434840" y="2148840"/>
            <a:ext cx="3246120" cy="2103120"/>
          </a:xfrm>
          <a:prstGeom prst="roundRect">
            <a:avLst>
              <a:gd name="adj" fmla="val 2174"/>
            </a:avLst>
          </a:prstGeom>
          <a:solidFill>
            <a:srgbClr val="0B2345"/>
          </a:solidFill>
          <a:ln w="12700">
            <a:solidFill>
              <a:srgbClr val="0B2345">
                <a:alpha val="9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F172A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183880" y="2148840"/>
            <a:ext cx="3246120" cy="2103120"/>
          </a:xfrm>
          <a:prstGeom prst="roundRect">
            <a:avLst>
              <a:gd name="adj" fmla="val 2174"/>
            </a:avLst>
          </a:prstGeom>
          <a:solidFill>
            <a:srgbClr val="0B2345"/>
          </a:solidFill>
          <a:ln w="12700">
            <a:solidFill>
              <a:srgbClr val="0B2345">
                <a:alpha val="9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F172A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05840" y="251460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Not just a form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05840" y="297180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5E9FF"/>
                </a:solidFill>
              </a:rPr>
              <a:t>Existing evidence becomes structured profile data automatically.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0" y="251460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Not just verified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754880" y="297180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5E9FF"/>
                </a:solidFill>
              </a:rPr>
              <a:t>Trust is issued as a passport with stamps, badges and review dates.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503920" y="251460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Not random matching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503920" y="297180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5E9FF"/>
                </a:solidFill>
              </a:rPr>
              <a:t>Linkages follow the right sequence based on passport intelligence.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516636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B6D4"/>
                </a:solidFill>
              </a:rPr>
              <a:t>Apply → Autofill → Confirm → Verify → Issue Passport → Activate Linkages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Solution: AI-issued Startup &amp; Mentor Passports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30352" y="85039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TrustPass AI turns evidence into reusable digital credentials for innovation ecosystems.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0241280" y="39319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4748B"/>
                </a:solidFill>
              </a:rPr>
              <a:t>TrustPass AI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1475720" y="641908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04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777240" y="1417320"/>
            <a:ext cx="2606040" cy="3429000"/>
          </a:xfrm>
          <a:prstGeom prst="roundRect">
            <a:avLst>
              <a:gd name="adj" fmla="val 2105"/>
            </a:avLst>
          </a:prstGeom>
          <a:solidFill>
            <a:srgbClr val="0B2345"/>
          </a:solidFill>
          <a:ln w="12700">
            <a:solidFill>
              <a:srgbClr val="06B6D4">
                <a:alpha val="6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05840" y="1673352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FEFFF"/>
                </a:solidFill>
              </a:rPr>
              <a:t>TRUSTPASS AI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05840" y="198424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STARTUP PASSPORT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97280" y="2404872"/>
            <a:ext cx="1965960" cy="0"/>
          </a:xfrm>
          <a:prstGeom prst="line">
            <a:avLst/>
          </a:prstGeom>
          <a:noFill/>
          <a:ln w="12700">
            <a:solidFill>
              <a:srgbClr val="06B6D4">
                <a:alpha val="6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9848" y="2560320"/>
            <a:ext cx="2020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MediNova AI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69848" y="2898648"/>
            <a:ext cx="2020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DEBFF"/>
                </a:solidFill>
              </a:rPr>
              <a:t>Passport ID: TP-ST-2026-001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1280160" y="4343400"/>
            <a:ext cx="1600200" cy="256032"/>
          </a:xfrm>
          <a:prstGeom prst="roundRect">
            <a:avLst>
              <a:gd name="adj" fmla="val 14286"/>
            </a:avLst>
          </a:prstGeom>
          <a:solidFill>
            <a:srgbClr val="FFFBEB"/>
          </a:solidFill>
          <a:ln w="12700">
            <a:solidFill>
              <a:srgbClr val="FFFBEB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62456" y="4402836"/>
            <a:ext cx="1435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9E0B"/>
                </a:solidFill>
              </a:rPr>
              <a:t>Conditionally Verified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8823960" y="1417320"/>
            <a:ext cx="2606040" cy="3429000"/>
          </a:xfrm>
          <a:prstGeom prst="roundRect">
            <a:avLst>
              <a:gd name="adj" fmla="val 2105"/>
            </a:avLst>
          </a:prstGeom>
          <a:solidFill>
            <a:srgbClr val="0B2345"/>
          </a:solidFill>
          <a:ln w="12700">
            <a:solidFill>
              <a:srgbClr val="06B6D4">
                <a:alpha val="6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052560" y="1673352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FEFFF"/>
                </a:solidFill>
              </a:rPr>
              <a:t>TRUSTPASS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052560" y="198424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MENTOR PASSPORT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144000" y="2404872"/>
            <a:ext cx="1965960" cy="0"/>
          </a:xfrm>
          <a:prstGeom prst="line">
            <a:avLst/>
          </a:prstGeom>
          <a:noFill/>
          <a:ln w="12700">
            <a:solidFill>
              <a:srgbClr val="06B6D4">
                <a:alpha val="6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16568" y="2560320"/>
            <a:ext cx="2020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Dr. Sarah Lim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116568" y="2898648"/>
            <a:ext cx="2020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DEBFF"/>
                </a:solidFill>
              </a:rPr>
              <a:t>Passport ID: TP-ST-2026-001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9326880" y="4343400"/>
            <a:ext cx="1600200" cy="256032"/>
          </a:xfrm>
          <a:prstGeom prst="roundRect">
            <a:avLst>
              <a:gd name="adj" fmla="val 14286"/>
            </a:avLst>
          </a:prstGeom>
          <a:solidFill>
            <a:srgbClr val="FFFBEB"/>
          </a:solidFill>
          <a:ln w="12700">
            <a:solidFill>
              <a:srgbClr val="FFFBEB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409176" y="4402836"/>
            <a:ext cx="1435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9E0B"/>
                </a:solidFill>
              </a:rPr>
              <a:t>Verified Mentor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3913632" y="1417320"/>
            <a:ext cx="4251960" cy="342900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12700">
            <a:solidFill>
              <a:srgbClr val="D9E2EF">
                <a:alpha val="9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F172A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251960" y="1737360"/>
            <a:ext cx="3291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What the passport contains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4315968" y="2240280"/>
            <a:ext cx="274320" cy="27432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15968" y="2308860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✓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4800600" y="2313432"/>
            <a:ext cx="2514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Identity confidence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315968" y="2569464"/>
            <a:ext cx="274320" cy="27432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15968" y="2638044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✓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4800600" y="2642616"/>
            <a:ext cx="2514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Eligibility score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315968" y="2898648"/>
            <a:ext cx="274320" cy="27432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315968" y="2967228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✓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4800600" y="2971800"/>
            <a:ext cx="2514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Readiness score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315968" y="3227832"/>
            <a:ext cx="274320" cy="27432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315968" y="3296412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✓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4800600" y="3300984"/>
            <a:ext cx="2514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Missing evidence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315968" y="3557016"/>
            <a:ext cx="274320" cy="27432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315968" y="3625596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✓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4800600" y="3630168"/>
            <a:ext cx="2514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Risk flags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315968" y="3886200"/>
            <a:ext cx="274320" cy="27432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315968" y="3954780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✓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4800600" y="3959352"/>
            <a:ext cx="2514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Earned &amp; pending stamps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315968" y="4215384"/>
            <a:ext cx="274320" cy="27432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315968" y="4283964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✓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4800600" y="4288536"/>
            <a:ext cx="2514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Public verification link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3584448" y="3127248"/>
            <a:ext cx="274320" cy="0"/>
          </a:xfrm>
          <a:prstGeom prst="line">
            <a:avLst/>
          </a:prstGeom>
          <a:noFill/>
          <a:ln w="12700">
            <a:solidFill>
              <a:srgbClr val="06B6D4"/>
            </a:solidFill>
            <a:prstDash val="solid"/>
            <a:headEnd type="none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8485632" y="3127248"/>
            <a:ext cx="-274320" cy="0"/>
          </a:xfrm>
          <a:prstGeom prst="line">
            <a:avLst/>
          </a:prstGeom>
          <a:noFill/>
          <a:ln w="12700">
            <a:solidFill>
              <a:srgbClr val="06B6D4"/>
            </a:solidFill>
            <a:prstDash val="solid"/>
            <a:headEnd type="none"/>
            <a:tailEnd type="triangle"/>
          </a:ln>
        </p:spPr>
      </p:sp>
      <p:sp>
        <p:nvSpPr>
          <p:cNvPr id="49" name="Text 47"/>
          <p:cNvSpPr/>
          <p:nvPr/>
        </p:nvSpPr>
        <p:spPr>
          <a:xfrm>
            <a:off x="1005840" y="5669280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71A33"/>
                </a:solidFill>
              </a:rPr>
              <a:t>Startups and mentors become trusted ecosystem actors — not rows in a spreadsheet.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Zero-form onboarding: AI does the data entry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30352" y="85039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Users upload what they already have; AI prepares the passport profile for confirmation.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0241280" y="39319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4748B"/>
                </a:solidFill>
              </a:rPr>
              <a:t>TrustPass AI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1475720" y="641908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05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777240" y="1508760"/>
            <a:ext cx="2423160" cy="2011680"/>
          </a:xfrm>
          <a:prstGeom prst="roundRect">
            <a:avLst>
              <a:gd name="adj" fmla="val 2273"/>
            </a:avLst>
          </a:prstGeom>
          <a:solidFill>
            <a:srgbClr val="EFF6FF"/>
          </a:solidFill>
          <a:ln w="12700">
            <a:solidFill>
              <a:srgbClr val="D9E2EF">
                <a:alpha val="9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F172A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005840" y="1737360"/>
            <a:ext cx="274320" cy="2743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805940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1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1005840" y="230428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Upload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005840" y="2633472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Pitch deck / CV / website / description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310128" y="2514600"/>
            <a:ext cx="118872" cy="0"/>
          </a:xfrm>
          <a:prstGeom prst="line">
            <a:avLst/>
          </a:prstGeom>
          <a:noFill/>
          <a:ln w="12700">
            <a:solidFill>
              <a:srgbClr val="06B6D4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566160" y="1508760"/>
            <a:ext cx="2423160" cy="2011680"/>
          </a:xfrm>
          <a:prstGeom prst="roundRect">
            <a:avLst>
              <a:gd name="adj" fmla="val 2273"/>
            </a:avLst>
          </a:prstGeom>
          <a:solidFill>
            <a:srgbClr val="ECFEFF"/>
          </a:solidFill>
          <a:ln w="12700">
            <a:solidFill>
              <a:srgbClr val="D9E2EF">
                <a:alpha val="9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F172A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794760" y="1737360"/>
            <a:ext cx="274320" cy="27432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94760" y="1805940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2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3794760" y="230428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Autofill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3794760" y="2633472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AI extracts fields with confidence &amp; source tags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099048" y="2514600"/>
            <a:ext cx="118872" cy="0"/>
          </a:xfrm>
          <a:prstGeom prst="line">
            <a:avLst/>
          </a:prstGeom>
          <a:noFill/>
          <a:ln w="12700">
            <a:solidFill>
              <a:srgbClr val="06B6D4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355080" y="1508760"/>
            <a:ext cx="2423160" cy="2011680"/>
          </a:xfrm>
          <a:prstGeom prst="roundRect">
            <a:avLst>
              <a:gd name="adj" fmla="val 2273"/>
            </a:avLst>
          </a:prstGeom>
          <a:solidFill>
            <a:srgbClr val="EFF6FF"/>
          </a:solidFill>
          <a:ln w="12700">
            <a:solidFill>
              <a:srgbClr val="D9E2EF">
                <a:alpha val="9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F172A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83680" y="1737360"/>
            <a:ext cx="274320" cy="2743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0" y="1805940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3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6583680" y="230428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Confirm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583680" y="2633472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User edits only missing or low-confidence fields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887968" y="2514600"/>
            <a:ext cx="118872" cy="0"/>
          </a:xfrm>
          <a:prstGeom prst="line">
            <a:avLst/>
          </a:prstGeom>
          <a:noFill/>
          <a:ln w="12700">
            <a:solidFill>
              <a:srgbClr val="06B6D4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9144000" y="1508760"/>
            <a:ext cx="2423160" cy="2011680"/>
          </a:xfrm>
          <a:prstGeom prst="roundRect">
            <a:avLst>
              <a:gd name="adj" fmla="val 2273"/>
            </a:avLst>
          </a:prstGeom>
          <a:solidFill>
            <a:srgbClr val="ECFEFF"/>
          </a:solidFill>
          <a:ln w="12700">
            <a:solidFill>
              <a:srgbClr val="D9E2EF">
                <a:alpha val="9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F172A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9372600" y="1737360"/>
            <a:ext cx="274320" cy="27432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372600" y="1805940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4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9372600" y="230428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Verify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9372600" y="2633472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AI checks eligibility, readiness and risks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1051560" y="4251960"/>
            <a:ext cx="1005840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9E2EF">
                <a:alpha val="9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F172A">
                <a:alpha val="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1325880" y="448056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Example autofilled fields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325880" y="486460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4748B"/>
                </a:solidFill>
              </a:rPr>
              <a:t>Startup Name</a:t>
            </a:r>
            <a:endParaRPr lang="en-US" sz="820" dirty="0"/>
          </a:p>
        </p:txBody>
      </p:sp>
      <p:sp>
        <p:nvSpPr>
          <p:cNvPr id="34" name="Text 32"/>
          <p:cNvSpPr/>
          <p:nvPr/>
        </p:nvSpPr>
        <p:spPr>
          <a:xfrm>
            <a:off x="1325880" y="5074920"/>
            <a:ext cx="1463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MediNova AI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1325880" y="5550408"/>
            <a:ext cx="777240" cy="256032"/>
          </a:xfrm>
          <a:prstGeom prst="roundRect">
            <a:avLst>
              <a:gd name="adj" fmla="val 14286"/>
            </a:avLst>
          </a:prstGeom>
          <a:solidFill>
            <a:srgbClr val="ECFDF5"/>
          </a:solidFill>
          <a:ln w="12700">
            <a:solidFill>
              <a:srgbClr val="ECFDF5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408176" y="5609844"/>
            <a:ext cx="6126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2C55E"/>
                </a:solidFill>
              </a:rPr>
              <a:t>High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3703320" y="486460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4748B"/>
                </a:solidFill>
              </a:rPr>
              <a:t>Sector</a:t>
            </a:r>
            <a:endParaRPr lang="en-US" sz="820" dirty="0"/>
          </a:p>
        </p:txBody>
      </p:sp>
      <p:sp>
        <p:nvSpPr>
          <p:cNvPr id="38" name="Text 36"/>
          <p:cNvSpPr/>
          <p:nvPr/>
        </p:nvSpPr>
        <p:spPr>
          <a:xfrm>
            <a:off x="3703320" y="5074920"/>
            <a:ext cx="1463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HealthTech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703320" y="5550408"/>
            <a:ext cx="777240" cy="256032"/>
          </a:xfrm>
          <a:prstGeom prst="roundRect">
            <a:avLst>
              <a:gd name="adj" fmla="val 14286"/>
            </a:avLst>
          </a:prstGeom>
          <a:solidFill>
            <a:srgbClr val="ECFDF5"/>
          </a:solidFill>
          <a:ln w="12700">
            <a:solidFill>
              <a:srgbClr val="ECFDF5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785616" y="5609844"/>
            <a:ext cx="6126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2C55E"/>
                </a:solidFill>
              </a:rPr>
              <a:t>High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6080760" y="486460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4748B"/>
                </a:solidFill>
              </a:rPr>
              <a:t>Stage</a:t>
            </a:r>
            <a:endParaRPr lang="en-US" sz="820" dirty="0"/>
          </a:p>
        </p:txBody>
      </p:sp>
      <p:sp>
        <p:nvSpPr>
          <p:cNvPr id="42" name="Text 40"/>
          <p:cNvSpPr/>
          <p:nvPr/>
        </p:nvSpPr>
        <p:spPr>
          <a:xfrm>
            <a:off x="6080760" y="5074920"/>
            <a:ext cx="1463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MVP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080760" y="5550408"/>
            <a:ext cx="777240" cy="256032"/>
          </a:xfrm>
          <a:prstGeom prst="roundRect">
            <a:avLst>
              <a:gd name="adj" fmla="val 14286"/>
            </a:avLst>
          </a:prstGeom>
          <a:solidFill>
            <a:srgbClr val="EFF6FF"/>
          </a:solidFill>
          <a:ln w="12700">
            <a:solidFill>
              <a:srgbClr val="EFF6FF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163056" y="5609844"/>
            <a:ext cx="6126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563EB"/>
                </a:solidFill>
              </a:rPr>
              <a:t>Medium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8458200" y="486460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4748B"/>
                </a:solidFill>
              </a:rPr>
              <a:t>Revenue Status</a:t>
            </a:r>
            <a:endParaRPr lang="en-US" sz="820" dirty="0"/>
          </a:p>
        </p:txBody>
      </p:sp>
      <p:sp>
        <p:nvSpPr>
          <p:cNvPr id="46" name="Text 44"/>
          <p:cNvSpPr/>
          <p:nvPr/>
        </p:nvSpPr>
        <p:spPr>
          <a:xfrm>
            <a:off x="8458200" y="5074920"/>
            <a:ext cx="1463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Not found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8458200" y="5550408"/>
            <a:ext cx="777240" cy="256032"/>
          </a:xfrm>
          <a:prstGeom prst="roundRect">
            <a:avLst>
              <a:gd name="adj" fmla="val 14286"/>
            </a:avLst>
          </a:prstGeom>
          <a:solidFill>
            <a:srgbClr val="FFFBEB"/>
          </a:solidFill>
          <a:ln w="12700">
            <a:solidFill>
              <a:srgbClr val="FFFBEB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540496" y="5609844"/>
            <a:ext cx="6126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9E0B"/>
                </a:solidFill>
              </a:rPr>
              <a:t>Action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Seven-agent workflow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30352" y="85039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Logical Gemini-powered agents run in sequence; one Cloud Run backend can orchestrate them for the MVP.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0241280" y="39319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4748B"/>
                </a:solidFill>
              </a:rPr>
              <a:t>TrustPass AI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1475720" y="641908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06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658368" y="1444752"/>
            <a:ext cx="2331720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9E2EF">
                <a:alpha val="9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F172A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22960" y="1645920"/>
            <a:ext cx="274320" cy="2743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714500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1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1316736" y="1682496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Orchestrator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16736" y="2029968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475569"/>
                </a:solidFill>
              </a:rPr>
              <a:t>Controls workflow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3035808" y="2103120"/>
            <a:ext cx="365760" cy="0"/>
          </a:xfrm>
          <a:prstGeom prst="line">
            <a:avLst/>
          </a:prstGeom>
          <a:noFill/>
          <a:ln w="12700">
            <a:solidFill>
              <a:srgbClr val="06B6D4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447288" y="1444752"/>
            <a:ext cx="2331720" cy="1325880"/>
          </a:xfrm>
          <a:prstGeom prst="roundRect">
            <a:avLst>
              <a:gd name="adj" fmla="val 3448"/>
            </a:avLst>
          </a:prstGeom>
          <a:solidFill>
            <a:srgbClr val="EFF6FF"/>
          </a:solidFill>
          <a:ln w="12700">
            <a:solidFill>
              <a:srgbClr val="D9E2EF">
                <a:alpha val="9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F172A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11880" y="1645920"/>
            <a:ext cx="274320" cy="2743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11880" y="1714500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2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4105656" y="1682496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Passport Builder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105656" y="2029968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475569"/>
                </a:solidFill>
              </a:rPr>
              <a:t>Autofills profile</a:t>
            </a:r>
            <a:endParaRPr lang="en-US" sz="920" dirty="0"/>
          </a:p>
        </p:txBody>
      </p:sp>
      <p:sp>
        <p:nvSpPr>
          <p:cNvPr id="19" name="Shape 17"/>
          <p:cNvSpPr/>
          <p:nvPr/>
        </p:nvSpPr>
        <p:spPr>
          <a:xfrm>
            <a:off x="5824728" y="2103120"/>
            <a:ext cx="365760" cy="0"/>
          </a:xfrm>
          <a:prstGeom prst="line">
            <a:avLst/>
          </a:prstGeom>
          <a:noFill/>
          <a:ln w="12700">
            <a:solidFill>
              <a:srgbClr val="06B6D4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236208" y="1444752"/>
            <a:ext cx="2331720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9E2EF">
                <a:alpha val="9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F172A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0" y="1645920"/>
            <a:ext cx="274320" cy="2743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0" y="1714500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3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6894576" y="1682496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Evidence Extraction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894576" y="2029968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475569"/>
                </a:solidFill>
              </a:rPr>
              <a:t>Claims &amp; proof</a:t>
            </a:r>
            <a:endParaRPr lang="en-US" sz="920" dirty="0"/>
          </a:p>
        </p:txBody>
      </p:sp>
      <p:sp>
        <p:nvSpPr>
          <p:cNvPr id="25" name="Shape 23"/>
          <p:cNvSpPr/>
          <p:nvPr/>
        </p:nvSpPr>
        <p:spPr>
          <a:xfrm>
            <a:off x="8613648" y="2103120"/>
            <a:ext cx="365760" cy="0"/>
          </a:xfrm>
          <a:prstGeom prst="line">
            <a:avLst/>
          </a:prstGeom>
          <a:noFill/>
          <a:ln w="12700">
            <a:solidFill>
              <a:srgbClr val="06B6D4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9025128" y="1444752"/>
            <a:ext cx="2331720" cy="1325880"/>
          </a:xfrm>
          <a:prstGeom prst="roundRect">
            <a:avLst>
              <a:gd name="adj" fmla="val 3448"/>
            </a:avLst>
          </a:prstGeom>
          <a:solidFill>
            <a:srgbClr val="EFF6FF"/>
          </a:solidFill>
          <a:ln w="12700">
            <a:solidFill>
              <a:srgbClr val="D9E2EF">
                <a:alpha val="9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F172A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9189720" y="1645920"/>
            <a:ext cx="274320" cy="2743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89720" y="1714500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4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9683496" y="1682496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Eligibility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683496" y="2029968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475569"/>
                </a:solidFill>
              </a:rPr>
              <a:t>Programme fit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658368" y="3593592"/>
            <a:ext cx="2331720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9E2EF">
                <a:alpha val="9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F172A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22960" y="3794760"/>
            <a:ext cx="274320" cy="27432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2960" y="3863340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5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1316736" y="3831336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Readiness &amp; Risk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316736" y="4178808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475569"/>
                </a:solidFill>
              </a:rPr>
              <a:t>Scores &amp; flags</a:t>
            </a:r>
            <a:endParaRPr lang="en-US" sz="920" dirty="0"/>
          </a:p>
        </p:txBody>
      </p:sp>
      <p:sp>
        <p:nvSpPr>
          <p:cNvPr id="36" name="Shape 34"/>
          <p:cNvSpPr/>
          <p:nvPr/>
        </p:nvSpPr>
        <p:spPr>
          <a:xfrm>
            <a:off x="3035808" y="4251960"/>
            <a:ext cx="365760" cy="0"/>
          </a:xfrm>
          <a:prstGeom prst="line">
            <a:avLst/>
          </a:prstGeom>
          <a:noFill/>
          <a:ln w="12700">
            <a:solidFill>
              <a:srgbClr val="06B6D4"/>
            </a:solidFill>
            <a:prstDash val="solid"/>
            <a:headEnd type="none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3447288" y="3593592"/>
            <a:ext cx="2331720" cy="1325880"/>
          </a:xfrm>
          <a:prstGeom prst="roundRect">
            <a:avLst>
              <a:gd name="adj" fmla="val 3448"/>
            </a:avLst>
          </a:prstGeom>
          <a:solidFill>
            <a:srgbClr val="EFF6FF"/>
          </a:solidFill>
          <a:ln w="12700">
            <a:solidFill>
              <a:srgbClr val="D9E2EF">
                <a:alpha val="9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F172A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611880" y="3794760"/>
            <a:ext cx="274320" cy="27432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11880" y="3863340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6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4105656" y="3831336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Passport &amp; Stamp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4105656" y="4178808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475569"/>
                </a:solidFill>
              </a:rPr>
              <a:t>Status + stamps</a:t>
            </a:r>
            <a:endParaRPr lang="en-US" sz="920" dirty="0"/>
          </a:p>
        </p:txBody>
      </p:sp>
      <p:sp>
        <p:nvSpPr>
          <p:cNvPr id="42" name="Shape 40"/>
          <p:cNvSpPr/>
          <p:nvPr/>
        </p:nvSpPr>
        <p:spPr>
          <a:xfrm>
            <a:off x="5824728" y="4251960"/>
            <a:ext cx="365760" cy="0"/>
          </a:xfrm>
          <a:prstGeom prst="line">
            <a:avLst/>
          </a:prstGeom>
          <a:noFill/>
          <a:ln w="12700">
            <a:solidFill>
              <a:srgbClr val="06B6D4"/>
            </a:solidFill>
            <a:prstDash val="solid"/>
            <a:headEnd type="none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6236208" y="3593592"/>
            <a:ext cx="2331720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9E2EF">
                <a:alpha val="9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F172A">
                <a:alpha val="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400800" y="3794760"/>
            <a:ext cx="274320" cy="27432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0800" y="3863340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7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6894576" y="3831336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Linkage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6894576" y="4178808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475569"/>
                </a:solidFill>
              </a:rPr>
              <a:t>Next connections</a:t>
            </a:r>
            <a:endParaRPr lang="en-US" sz="920" dirty="0"/>
          </a:p>
        </p:txBody>
      </p:sp>
      <p:sp>
        <p:nvSpPr>
          <p:cNvPr id="48" name="Text 46"/>
          <p:cNvSpPr/>
          <p:nvPr/>
        </p:nvSpPr>
        <p:spPr>
          <a:xfrm>
            <a:off x="822960" y="5943600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1A33"/>
                </a:solidFill>
              </a:rPr>
              <a:t>Human-in-the-loop guardrail: AI prepares and recommends. Admins approve passports, stamps and linkages.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Admin Verification Workspace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30352" y="85039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A control center for explainable AI review, passport issuance and stamp approval.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0241280" y="39319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4748B"/>
                </a:solidFill>
              </a:rPr>
              <a:t>TrustPass AI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1475720" y="641908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07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685800" y="1234440"/>
            <a:ext cx="10972800" cy="5074920"/>
          </a:xfrm>
          <a:prstGeom prst="roundRect">
            <a:avLst>
              <a:gd name="adj" fmla="val 901"/>
            </a:avLst>
          </a:prstGeom>
          <a:solidFill>
            <a:srgbClr val="FFFFFF"/>
          </a:solidFill>
          <a:ln w="12700">
            <a:solidFill>
              <a:srgbClr val="D9E2EF">
                <a:alpha val="9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F172A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60120" y="150876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MediNova AI — AI Verification Review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006840" y="1463040"/>
            <a:ext cx="1463040" cy="256032"/>
          </a:xfrm>
          <a:prstGeom prst="roundRect">
            <a:avLst>
              <a:gd name="adj" fmla="val 14286"/>
            </a:avLst>
          </a:prstGeom>
          <a:solidFill>
            <a:srgbClr val="FFFBEB"/>
          </a:solidFill>
          <a:ln w="12700">
            <a:solidFill>
              <a:srgbClr val="FFFBEB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089136" y="1522476"/>
            <a:ext cx="12984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9E0B"/>
                </a:solidFill>
              </a:rPr>
              <a:t>Conditionally Verified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960120" y="2057400"/>
            <a:ext cx="182880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9E2EF">
                <a:alpha val="9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F172A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097280" y="222199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2563EB"/>
                </a:solidFill>
              </a:rPr>
              <a:t>86%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097280" y="2651760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Eligibility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063240" y="2057400"/>
            <a:ext cx="182880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9E2EF">
                <a:alpha val="9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F172A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200400" y="222199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4B8A6"/>
                </a:solidFill>
              </a:rPr>
              <a:t>78%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3200400" y="2651760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Readiness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166360" y="2057400"/>
            <a:ext cx="182880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9E2EF">
                <a:alpha val="9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F172A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303520" y="222199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59E0B"/>
                </a:solidFill>
              </a:rPr>
              <a:t>64%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5303520" y="2651760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Evidence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7269480" y="2057400"/>
            <a:ext cx="182880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9E2EF">
                <a:alpha val="9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F172A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406640" y="222199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EF4444"/>
                </a:solidFill>
              </a:rPr>
              <a:t>Medium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7406640" y="2651760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Risk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960120" y="342900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Missing evidence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987552" y="3803904"/>
            <a:ext cx="274320" cy="2743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87552" y="3872484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!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1463040" y="3877056"/>
            <a:ext cx="27432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Pilot customer proof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987552" y="4133088"/>
            <a:ext cx="274320" cy="2743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87552" y="4201668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!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1463040" y="4206240"/>
            <a:ext cx="27432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Data privacy explanation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987552" y="4462272"/>
            <a:ext cx="274320" cy="2743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87552" y="4530852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!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1463040" y="4535424"/>
            <a:ext cx="27432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Financial projection slide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709160" y="342900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Recommended stamps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754880" y="3749040"/>
            <a:ext cx="1417320" cy="384048"/>
          </a:xfrm>
          <a:prstGeom prst="roundRect">
            <a:avLst>
              <a:gd name="adj" fmla="val 7143"/>
            </a:avLst>
          </a:prstGeom>
          <a:solidFill>
            <a:srgbClr val="FFFFFF">
              <a:alpha val="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00600" y="3867912"/>
            <a:ext cx="13258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22C55E"/>
                </a:solidFill>
              </a:rPr>
              <a:t>PROFILE AUTO-BUILT</a:t>
            </a:r>
            <a:endParaRPr lang="en-US" sz="650" dirty="0"/>
          </a:p>
        </p:txBody>
      </p:sp>
      <p:sp>
        <p:nvSpPr>
          <p:cNvPr id="37" name="Shape 35"/>
          <p:cNvSpPr/>
          <p:nvPr/>
        </p:nvSpPr>
        <p:spPr>
          <a:xfrm>
            <a:off x="6355080" y="3749040"/>
            <a:ext cx="1417320" cy="384048"/>
          </a:xfrm>
          <a:prstGeom prst="roundRect">
            <a:avLst>
              <a:gd name="adj" fmla="val 7143"/>
            </a:avLst>
          </a:prstGeom>
          <a:solidFill>
            <a:srgbClr val="FFFFFF">
              <a:alpha val="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0" y="3867912"/>
            <a:ext cx="13258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22C55E"/>
                </a:solidFill>
              </a:rPr>
              <a:t>PITCH DECK REVIEWED</a:t>
            </a:r>
            <a:endParaRPr lang="en-US" sz="650" dirty="0"/>
          </a:p>
        </p:txBody>
      </p:sp>
      <p:sp>
        <p:nvSpPr>
          <p:cNvPr id="39" name="Shape 37"/>
          <p:cNvSpPr/>
          <p:nvPr/>
        </p:nvSpPr>
        <p:spPr>
          <a:xfrm>
            <a:off x="4754880" y="4315968"/>
            <a:ext cx="1417320" cy="384048"/>
          </a:xfrm>
          <a:prstGeom prst="roundRect">
            <a:avLst>
              <a:gd name="adj" fmla="val 7143"/>
            </a:avLst>
          </a:prstGeom>
          <a:solidFill>
            <a:srgbClr val="FFFFFF">
              <a:alpha val="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00600" y="4434840"/>
            <a:ext cx="13258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59E0B"/>
                </a:solidFill>
              </a:rPr>
              <a:t>PILOT READY PENDING</a:t>
            </a:r>
            <a:endParaRPr lang="en-US" sz="650" dirty="0"/>
          </a:p>
        </p:txBody>
      </p:sp>
      <p:sp>
        <p:nvSpPr>
          <p:cNvPr id="41" name="Shape 39"/>
          <p:cNvSpPr/>
          <p:nvPr/>
        </p:nvSpPr>
        <p:spPr>
          <a:xfrm>
            <a:off x="6355080" y="4315968"/>
            <a:ext cx="1417320" cy="384048"/>
          </a:xfrm>
          <a:prstGeom prst="roundRect">
            <a:avLst>
              <a:gd name="adj" fmla="val 7143"/>
            </a:avLst>
          </a:prstGeom>
          <a:solidFill>
            <a:srgbClr val="FFFFFF">
              <a:alpha val="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0800" y="4434840"/>
            <a:ext cx="13258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59E0B"/>
                </a:solidFill>
              </a:rPr>
              <a:t>FUNDING READY PENDING</a:t>
            </a:r>
            <a:endParaRPr lang="en-US" sz="650" dirty="0"/>
          </a:p>
        </p:txBody>
      </p:sp>
      <p:sp>
        <p:nvSpPr>
          <p:cNvPr id="43" name="Shape 41"/>
          <p:cNvSpPr/>
          <p:nvPr/>
        </p:nvSpPr>
        <p:spPr>
          <a:xfrm>
            <a:off x="8412480" y="3657600"/>
            <a:ext cx="2148840" cy="411480"/>
          </a:xfrm>
          <a:prstGeom prst="roundRect">
            <a:avLst>
              <a:gd name="adj" fmla="val 8889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412480" y="3776472"/>
            <a:ext cx="21488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Issue Passport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8412480" y="4251960"/>
            <a:ext cx="2148840" cy="411480"/>
          </a:xfrm>
          <a:prstGeom prst="roundRect">
            <a:avLst>
              <a:gd name="adj" fmla="val 8889"/>
            </a:avLst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412480" y="4370832"/>
            <a:ext cx="21488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Request Evidence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486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Passport issued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051560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DEBFF"/>
                </a:solidFill>
              </a:rPr>
              <a:t>The most memorable product moment: an official digital credential with earned and pending stamps.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14400" y="1828800"/>
            <a:ext cx="4983480" cy="3383280"/>
          </a:xfrm>
          <a:prstGeom prst="roundRect">
            <a:avLst>
              <a:gd name="adj" fmla="val 1351"/>
            </a:avLst>
          </a:prstGeom>
          <a:solidFill>
            <a:srgbClr val="FFF7E6"/>
          </a:solidFill>
          <a:ln w="12700">
            <a:solidFill>
              <a:srgbClr val="D6B868">
                <a:alpha val="9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F172A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89320" y="1828800"/>
            <a:ext cx="4983480" cy="3383280"/>
          </a:xfrm>
          <a:prstGeom prst="roundRect">
            <a:avLst>
              <a:gd name="adj" fmla="val 1351"/>
            </a:avLst>
          </a:prstGeom>
          <a:solidFill>
            <a:srgbClr val="FFF7E6"/>
          </a:solidFill>
          <a:ln w="12700">
            <a:solidFill>
              <a:srgbClr val="D6B868">
                <a:alpha val="9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F172A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0" y="1874520"/>
            <a:ext cx="0" cy="3291840"/>
          </a:xfrm>
          <a:prstGeom prst="line">
            <a:avLst/>
          </a:prstGeom>
          <a:noFill/>
          <a:ln w="12700">
            <a:solidFill>
              <a:srgbClr val="BFA76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80160" y="210312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75569"/>
                </a:solidFill>
              </a:rPr>
              <a:t>IDENTITY PAGE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280160" y="248716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71A33"/>
                </a:solidFill>
              </a:rPr>
              <a:t>MediNova AI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98448" y="2907792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75569"/>
                </a:solidFill>
              </a:rPr>
              <a:t>HealthTech • MVP • Malaysia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475569"/>
                </a:solidFill>
              </a:rPr>
              <a:t>Passport ID: TP-ST-2026-001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475569"/>
                </a:solidFill>
              </a:rPr>
              <a:t>Issued: 16 May 2026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475569"/>
                </a:solidFill>
              </a:rPr>
              <a:t>Review: 16 Aug 2026</a:t>
            </a:r>
            <a:endParaRPr lang="en-US" sz="1020" dirty="0"/>
          </a:p>
        </p:txBody>
      </p:sp>
      <p:sp>
        <p:nvSpPr>
          <p:cNvPr id="10" name="Shape 8"/>
          <p:cNvSpPr/>
          <p:nvPr/>
        </p:nvSpPr>
        <p:spPr>
          <a:xfrm>
            <a:off x="4069080" y="2331720"/>
            <a:ext cx="1143000" cy="1143000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69080" y="2798064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4748B"/>
                </a:solidFill>
              </a:rPr>
              <a:t>QR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355080" y="210312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75569"/>
                </a:solidFill>
              </a:rPr>
              <a:t>STAMP PAGE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400800" y="2514600"/>
            <a:ext cx="1417320" cy="457200"/>
          </a:xfrm>
          <a:prstGeom prst="roundRect">
            <a:avLst>
              <a:gd name="adj" fmla="val 60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6520" y="2633472"/>
            <a:ext cx="13258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22C55E"/>
                </a:solidFill>
              </a:rPr>
              <a:t>IDENTITY VERIFIED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8229600" y="2514600"/>
            <a:ext cx="1508760" cy="457200"/>
          </a:xfrm>
          <a:prstGeom prst="roundRect">
            <a:avLst>
              <a:gd name="adj" fmla="val 60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75320" y="2633472"/>
            <a:ext cx="1417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6B6D4"/>
                </a:solidFill>
              </a:rPr>
              <a:t>PROGRAMME ELIGIBLE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6400800" y="3246120"/>
            <a:ext cx="1508760" cy="457200"/>
          </a:xfrm>
          <a:prstGeom prst="roundRect">
            <a:avLst>
              <a:gd name="adj" fmla="val 60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46520" y="3364992"/>
            <a:ext cx="1417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22C55E"/>
                </a:solidFill>
              </a:rPr>
              <a:t>PITCH DECK REVIEWED</a:t>
            </a:r>
            <a:endParaRPr lang="en-US" sz="650" dirty="0"/>
          </a:p>
        </p:txBody>
      </p:sp>
      <p:sp>
        <p:nvSpPr>
          <p:cNvPr id="19" name="Shape 17"/>
          <p:cNvSpPr/>
          <p:nvPr/>
        </p:nvSpPr>
        <p:spPr>
          <a:xfrm>
            <a:off x="8229600" y="3246120"/>
            <a:ext cx="1508760" cy="457200"/>
          </a:xfrm>
          <a:prstGeom prst="roundRect">
            <a:avLst>
              <a:gd name="adj" fmla="val 60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75320" y="3364992"/>
            <a:ext cx="1417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59E0B"/>
                </a:solidFill>
              </a:rPr>
              <a:t>PILOT READY PENDING</a:t>
            </a:r>
            <a:endParaRPr lang="en-US" sz="650" dirty="0"/>
          </a:p>
        </p:txBody>
      </p:sp>
      <p:sp>
        <p:nvSpPr>
          <p:cNvPr id="21" name="Shape 19"/>
          <p:cNvSpPr/>
          <p:nvPr/>
        </p:nvSpPr>
        <p:spPr>
          <a:xfrm>
            <a:off x="7315200" y="3977640"/>
            <a:ext cx="1600200" cy="457200"/>
          </a:xfrm>
          <a:prstGeom prst="roundRect">
            <a:avLst>
              <a:gd name="adj" fmla="val 60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60920" y="4096512"/>
            <a:ext cx="15087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59E0B"/>
                </a:solidFill>
              </a:rPr>
              <a:t>COMPLIANCE PENDING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2194560" y="598932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B6D4"/>
                </a:solidFill>
              </a:rPr>
              <a:t>Shareable proof: public verification page + QR + badge export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Linkage recommendations: sequence, not random matching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30352" y="85039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Verified passports unlock the right relationships at the right time.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0241280" y="39319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4748B"/>
                </a:solidFill>
              </a:rPr>
              <a:t>TrustPass AI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1475720" y="641908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09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685800" y="1828800"/>
            <a:ext cx="2148840" cy="2788920"/>
          </a:xfrm>
          <a:prstGeom prst="roundRect">
            <a:avLst>
              <a:gd name="adj" fmla="val 2553"/>
            </a:avLst>
          </a:prstGeom>
          <a:solidFill>
            <a:srgbClr val="0B2345"/>
          </a:solidFill>
          <a:ln w="12700">
            <a:solidFill>
              <a:srgbClr val="06B6D4">
                <a:alpha val="6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208483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FEFFF"/>
                </a:solidFill>
              </a:rPr>
              <a:t>TRUSTPASS AI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14400" y="239572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STARTUP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05840" y="2816352"/>
            <a:ext cx="1508760" cy="0"/>
          </a:xfrm>
          <a:prstGeom prst="line">
            <a:avLst/>
          </a:prstGeom>
          <a:noFill/>
          <a:ln w="12700">
            <a:solidFill>
              <a:srgbClr val="06B6D4">
                <a:alpha val="6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971800"/>
            <a:ext cx="1563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MediNova AI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78408" y="3310128"/>
            <a:ext cx="1563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DEBFF"/>
                </a:solidFill>
              </a:rPr>
              <a:t>Passport ID: TP-ST-2026-001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1188720" y="4114800"/>
            <a:ext cx="1143000" cy="256032"/>
          </a:xfrm>
          <a:prstGeom prst="roundRect">
            <a:avLst>
              <a:gd name="adj" fmla="val 14286"/>
            </a:avLst>
          </a:prstGeom>
          <a:solidFill>
            <a:srgbClr val="FFFBEB"/>
          </a:solidFill>
          <a:ln w="12700">
            <a:solidFill>
              <a:srgbClr val="FFFBEB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71016" y="4174236"/>
            <a:ext cx="9784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9E0B"/>
                </a:solidFill>
              </a:rPr>
              <a:t>Conditional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3703320" y="1508760"/>
            <a:ext cx="2103120" cy="914400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 w="12700">
            <a:solidFill>
              <a:srgbClr val="D9E2EF">
                <a:alpha val="9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F172A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849624" y="1673352"/>
            <a:ext cx="274320" cy="27432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9624" y="1741932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1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4325112" y="1691640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Compliance Mentor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325112" y="199339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475569"/>
                </a:solidFill>
              </a:rPr>
              <a:t>Earn Compliance Reviewed stamp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6492240" y="2606040"/>
            <a:ext cx="2103120" cy="914400"/>
          </a:xfrm>
          <a:prstGeom prst="roundRect">
            <a:avLst>
              <a:gd name="adj" fmla="val 5000"/>
            </a:avLst>
          </a:prstGeom>
          <a:solidFill>
            <a:srgbClr val="FFFBEB"/>
          </a:solidFill>
          <a:ln w="12700">
            <a:solidFill>
              <a:srgbClr val="D9E2EF">
                <a:alpha val="9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F172A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638544" y="2770632"/>
            <a:ext cx="274320" cy="2743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38544" y="2839212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2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7114032" y="2788920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Hospital Pilot Partner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114032" y="309067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475569"/>
                </a:solidFill>
              </a:rPr>
              <a:t>Blocked until compliance is cleared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9281160" y="4069080"/>
            <a:ext cx="2103120" cy="914400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 w="12700">
            <a:solidFill>
              <a:srgbClr val="D9E2EF">
                <a:alpha val="9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F172A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9427464" y="4233672"/>
            <a:ext cx="274320" cy="2743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427464" y="4302252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3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9902952" y="4251960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Funding Advisor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902952" y="455371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475569"/>
                </a:solidFill>
              </a:rPr>
              <a:t>Improve investor-readiness materials</a:t>
            </a:r>
            <a:endParaRPr lang="en-US" sz="780" dirty="0"/>
          </a:p>
        </p:txBody>
      </p:sp>
      <p:sp>
        <p:nvSpPr>
          <p:cNvPr id="31" name="Shape 29"/>
          <p:cNvSpPr/>
          <p:nvPr/>
        </p:nvSpPr>
        <p:spPr>
          <a:xfrm>
            <a:off x="2926080" y="3200400"/>
            <a:ext cx="731520" cy="-1536192"/>
          </a:xfrm>
          <a:prstGeom prst="line">
            <a:avLst/>
          </a:prstGeom>
          <a:noFill/>
          <a:ln w="12700">
            <a:solidFill>
              <a:srgbClr val="06B6D4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5806440" y="1691640"/>
            <a:ext cx="640080" cy="128016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  <a:headEnd type="none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8595360" y="3108960"/>
            <a:ext cx="640080" cy="132588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1005840" y="5349240"/>
            <a:ext cx="1001268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D9E2EF">
                <a:alpha val="9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F172A">
                <a:alpha val="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1234440" y="5577840"/>
            <a:ext cx="9464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A33"/>
                </a:solidFill>
              </a:rPr>
              <a:t>Governance logic: Hospital pilot introduction is blocked until the Compliance Reviewed stamp is earned.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Google Cloud MVP architecture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30352" y="85039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Simple enough for hackathon; scalable enough for production conversation.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0241280" y="39319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4748B"/>
                </a:solidFill>
              </a:rPr>
              <a:t>TrustPass AI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1475720" y="641908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10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731520" y="1371600"/>
            <a:ext cx="1828800" cy="960120"/>
          </a:xfrm>
          <a:prstGeom prst="roundRect">
            <a:avLst>
              <a:gd name="adj" fmla="val 4762"/>
            </a:avLst>
          </a:prstGeom>
          <a:solidFill>
            <a:srgbClr val="EFF6FF"/>
          </a:solidFill>
          <a:ln w="12700">
            <a:solidFill>
              <a:srgbClr val="D9E2EF">
                <a:alpha val="9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F172A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77824" y="1572768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Next.js Frontend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77824" y="187452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475569"/>
                </a:solidFill>
              </a:rPr>
              <a:t>Landing, passport builder, dashboards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743200" y="1371600"/>
            <a:ext cx="1828800" cy="960120"/>
          </a:xfrm>
          <a:prstGeom prst="roundRect">
            <a:avLst>
              <a:gd name="adj" fmla="val 4762"/>
            </a:avLst>
          </a:prstGeom>
          <a:solidFill>
            <a:srgbClr val="EFF6FF"/>
          </a:solidFill>
          <a:ln w="12700">
            <a:solidFill>
              <a:srgbClr val="D9E2EF">
                <a:alpha val="9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F172A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889504" y="1572768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Firebase Auth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889504" y="187452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475569"/>
                </a:solidFill>
              </a:rPr>
              <a:t>Login, signup, role-based routes</a:t>
            </a:r>
            <a:endParaRPr lang="en-US" sz="780" dirty="0"/>
          </a:p>
        </p:txBody>
      </p:sp>
      <p:sp>
        <p:nvSpPr>
          <p:cNvPr id="14" name="Shape 12"/>
          <p:cNvSpPr/>
          <p:nvPr/>
        </p:nvSpPr>
        <p:spPr>
          <a:xfrm>
            <a:off x="4754880" y="1371600"/>
            <a:ext cx="1828800" cy="960120"/>
          </a:xfrm>
          <a:prstGeom prst="roundRect">
            <a:avLst>
              <a:gd name="adj" fmla="val 4762"/>
            </a:avLst>
          </a:prstGeom>
          <a:solidFill>
            <a:srgbClr val="EFF6FF"/>
          </a:solidFill>
          <a:ln w="12700">
            <a:solidFill>
              <a:srgbClr val="D9E2EF">
                <a:alpha val="9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F172A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01184" y="1572768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Cloud Run API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01184" y="187452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475569"/>
                </a:solidFill>
              </a:rPr>
              <a:t>Backend + agent orchestration</a:t>
            </a:r>
            <a:endParaRPr lang="en-US" sz="780" dirty="0"/>
          </a:p>
        </p:txBody>
      </p:sp>
      <p:sp>
        <p:nvSpPr>
          <p:cNvPr id="17" name="Shape 15"/>
          <p:cNvSpPr/>
          <p:nvPr/>
        </p:nvSpPr>
        <p:spPr>
          <a:xfrm>
            <a:off x="6766560" y="1371600"/>
            <a:ext cx="1828800" cy="960120"/>
          </a:xfrm>
          <a:prstGeom prst="roundRect">
            <a:avLst>
              <a:gd name="adj" fmla="val 4762"/>
            </a:avLst>
          </a:prstGeom>
          <a:solidFill>
            <a:srgbClr val="ECFEFF"/>
          </a:solidFill>
          <a:ln w="12700">
            <a:solidFill>
              <a:srgbClr val="D9E2EF">
                <a:alpha val="9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F172A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912864" y="1572768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Gemini / Vertex AI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912864" y="187452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475569"/>
                </a:solidFill>
              </a:rPr>
              <a:t>Autofill, extraction, verification, explanations</a:t>
            </a:r>
            <a:endParaRPr lang="en-US" sz="780" dirty="0"/>
          </a:p>
        </p:txBody>
      </p:sp>
      <p:sp>
        <p:nvSpPr>
          <p:cNvPr id="20" name="Shape 18"/>
          <p:cNvSpPr/>
          <p:nvPr/>
        </p:nvSpPr>
        <p:spPr>
          <a:xfrm>
            <a:off x="3749040" y="3977640"/>
            <a:ext cx="182880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9E2EF">
                <a:alpha val="9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F172A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895344" y="4178808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Firestore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895344" y="448056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475569"/>
                </a:solidFill>
              </a:rPr>
              <a:t>Profiles, passports, stamps, linkages</a:t>
            </a:r>
            <a:endParaRPr lang="en-US" sz="780" dirty="0"/>
          </a:p>
        </p:txBody>
      </p:sp>
      <p:sp>
        <p:nvSpPr>
          <p:cNvPr id="23" name="Shape 21"/>
          <p:cNvSpPr/>
          <p:nvPr/>
        </p:nvSpPr>
        <p:spPr>
          <a:xfrm>
            <a:off x="6309360" y="3977640"/>
            <a:ext cx="182880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9E2EF">
                <a:alpha val="9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F172A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455664" y="4178808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Cloud Storage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55664" y="448056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475569"/>
                </a:solidFill>
              </a:rPr>
              <a:t>Decks, CVs, evidence, passport files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2606040" y="1856232"/>
            <a:ext cx="137160" cy="0"/>
          </a:xfrm>
          <a:prstGeom prst="line">
            <a:avLst/>
          </a:prstGeom>
          <a:noFill/>
          <a:ln w="12700">
            <a:solidFill>
              <a:srgbClr val="06B6D4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4617720" y="1856232"/>
            <a:ext cx="137160" cy="0"/>
          </a:xfrm>
          <a:prstGeom prst="line">
            <a:avLst/>
          </a:prstGeom>
          <a:noFill/>
          <a:ln w="12700">
            <a:solidFill>
              <a:srgbClr val="06B6D4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629400" y="1856232"/>
            <a:ext cx="137160" cy="0"/>
          </a:xfrm>
          <a:prstGeom prst="line">
            <a:avLst/>
          </a:prstGeom>
          <a:noFill/>
          <a:ln w="12700">
            <a:solidFill>
              <a:srgbClr val="06B6D4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5669280" y="2395728"/>
            <a:ext cx="-1005840" cy="1554480"/>
          </a:xfrm>
          <a:prstGeom prst="line">
            <a:avLst/>
          </a:prstGeom>
          <a:noFill/>
          <a:ln w="12700">
            <a:solidFill>
              <a:srgbClr val="06B6D4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5669280" y="2395728"/>
            <a:ext cx="1188720" cy="1554480"/>
          </a:xfrm>
          <a:prstGeom prst="line">
            <a:avLst/>
          </a:prstGeom>
          <a:noFill/>
          <a:ln w="12700">
            <a:solidFill>
              <a:srgbClr val="06B6D4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777240" y="5486400"/>
            <a:ext cx="1060704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9E2EF">
                <a:alpha val="9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F172A">
                <a:alpha val="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1005840" y="5687568"/>
            <a:ext cx="10149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Optional: Document AI for stronger PDF extraction • Secret Manager for keys • Cloud Logging for debugging and audit traces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Impact, business model and scalability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30352" y="85039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TrustPass AI starts as a hackathon MVP and scales into ecosystem trust infrastructure.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0241280" y="39319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4748B"/>
                </a:solidFill>
              </a:rPr>
              <a:t>TrustPass AI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1475720" y="641908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11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731520" y="1371600"/>
            <a:ext cx="210312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9E2EF">
                <a:alpha val="9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F172A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68680" y="153619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22C55E"/>
                </a:solidFill>
              </a:rPr>
              <a:t>50–70%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868680" y="196596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Verification time reduction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154680" y="1371600"/>
            <a:ext cx="210312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9E2EF">
                <a:alpha val="9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F172A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91840" y="153619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2563EB"/>
                </a:solidFill>
              </a:rPr>
              <a:t>Reduced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3291840" y="196596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Manual data entry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577840" y="1371600"/>
            <a:ext cx="210312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9E2EF">
                <a:alpha val="9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F172A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715000" y="153619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6B6D4"/>
                </a:solidFill>
              </a:rPr>
              <a:t>Passport-based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5715000" y="196596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Reusable trust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8001000" y="1371600"/>
            <a:ext cx="210312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9E2EF">
                <a:alpha val="9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F172A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138160" y="153619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59E0B"/>
                </a:solidFill>
              </a:rPr>
              <a:t>Sequenced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8138160" y="196596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Linkage quality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731520" y="3017520"/>
            <a:ext cx="3246120" cy="20574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9E2EF">
                <a:alpha val="9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F172A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005840" y="331012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Customers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005840" y="37033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Government agencies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Accelerators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Universities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Corporate innovation teams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480560" y="3017520"/>
            <a:ext cx="3246120" cy="20574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9E2EF">
                <a:alpha val="9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F172A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754880" y="331012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Revenue model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754880" y="37033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SaaS subscription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Per passport issued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Enterprise governance package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White-label ecosystem portal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229600" y="3017520"/>
            <a:ext cx="2743200" cy="20574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9E2EF">
                <a:alpha val="9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F172A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503920" y="331012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SDG alignment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503920" y="37033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SDG 9: Innovation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SDG 8: Growth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SDG 17: Partnerships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731520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TrustPass AI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713232" y="14173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B6D4"/>
                </a:solidFill>
              </a:rPr>
              <a:t>Verify once. Connect everywhere.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20574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</a:rPr>
              <a:t>From pitch deck to trusted ecosystem passport in minutes.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77240" y="2834640"/>
            <a:ext cx="4937760" cy="1508760"/>
          </a:xfrm>
          <a:prstGeom prst="roundRect">
            <a:avLst>
              <a:gd name="adj" fmla="val 3030"/>
            </a:avLst>
          </a:prstGeom>
          <a:solidFill>
            <a:srgbClr val="0B2345"/>
          </a:solidFill>
          <a:ln w="12700">
            <a:solidFill>
              <a:srgbClr val="0B2345">
                <a:alpha val="9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F172A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51560" y="309067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What we will demo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35204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DDEBFF"/>
                </a:solidFill>
              </a:rPr>
              <a:t>AI Passport Builder → Admin Review → Passport Issued → Linkage Recommendations</a:t>
            </a:r>
            <a:endParaRPr lang="en-US" sz="1220" dirty="0"/>
          </a:p>
        </p:txBody>
      </p:sp>
      <p:sp>
        <p:nvSpPr>
          <p:cNvPr id="8" name="Shape 6"/>
          <p:cNvSpPr/>
          <p:nvPr/>
        </p:nvSpPr>
        <p:spPr>
          <a:xfrm>
            <a:off x="7406640" y="1234440"/>
            <a:ext cx="2971800" cy="3977640"/>
          </a:xfrm>
          <a:prstGeom prst="roundRect">
            <a:avLst>
              <a:gd name="adj" fmla="val 1846"/>
            </a:avLst>
          </a:prstGeom>
          <a:solidFill>
            <a:srgbClr val="0B2345"/>
          </a:solidFill>
          <a:ln w="12700">
            <a:solidFill>
              <a:srgbClr val="06B6D4">
                <a:alpha val="6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635240" y="1490472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FEFFF"/>
                </a:solidFill>
              </a:rPr>
              <a:t>TRUSTPASS AI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635240" y="180136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TRUST PASSPORT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726680" y="2221992"/>
            <a:ext cx="2331720" cy="0"/>
          </a:xfrm>
          <a:prstGeom prst="line">
            <a:avLst/>
          </a:prstGeom>
          <a:noFill/>
          <a:ln w="12700">
            <a:solidFill>
              <a:srgbClr val="06B6D4">
                <a:alpha val="6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99248" y="2377440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Issued Credential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699248" y="2715768"/>
            <a:ext cx="2386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DEBFF"/>
                </a:solidFill>
              </a:rPr>
              <a:t>Passport ID: TP-ST-2026-001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7909560" y="4709160"/>
            <a:ext cx="1965960" cy="256032"/>
          </a:xfrm>
          <a:prstGeom prst="roundRect">
            <a:avLst>
              <a:gd name="adj" fmla="val 14286"/>
            </a:avLst>
          </a:prstGeom>
          <a:solidFill>
            <a:srgbClr val="FFFBEB"/>
          </a:solidFill>
          <a:ln w="12700">
            <a:solidFill>
              <a:srgbClr val="FFFBEB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91856" y="4768596"/>
            <a:ext cx="18013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9E0B"/>
                </a:solidFill>
              </a:rPr>
              <a:t>Ready for Linkage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7909560" y="3931920"/>
            <a:ext cx="1417320" cy="438912"/>
          </a:xfrm>
          <a:prstGeom prst="roundRect">
            <a:avLst>
              <a:gd name="adj" fmla="val 6250"/>
            </a:avLst>
          </a:prstGeom>
          <a:solidFill>
            <a:srgbClr val="FFFFFF">
              <a:alpha val="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55280" y="4050792"/>
            <a:ext cx="13258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6B6D4"/>
                </a:solidFill>
              </a:rPr>
              <a:t>PASSPORT ISSUED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777240" y="61447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Thank you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TrustPass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TrustPass AI Pitch Deck</dc:title>
  <dc:subject>Build with AI MyHack 2026</dc:subject>
  <dc:creator>TrustPass AI</dc:creator>
  <cp:lastModifiedBy>TrustPass AI</cp:lastModifiedBy>
  <cp:revision>1</cp:revision>
  <dcterms:created xsi:type="dcterms:W3CDTF">2026-05-16T13:17:36Z</dcterms:created>
  <dcterms:modified xsi:type="dcterms:W3CDTF">2026-05-16T13:17:36Z</dcterms:modified>
</cp:coreProperties>
</file>